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7c2af35083483c" /><Relationship Type="http://schemas.openxmlformats.org/officeDocument/2006/relationships/extended-properties" Target="/docProps/app.xml" Id="R375c2338077d4451" /><Relationship Type="http://schemas.openxmlformats.org/officeDocument/2006/relationships/officeDocument" Target="/ppt/presentation.xml" Id="Re108aa3870e34d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e15acaf7934de6"/>
  </p:sldMasterIdLst>
  <p:notesMasterIdLst>
    <p:notesMasterId xmlns:r="http://schemas.openxmlformats.org/officeDocument/2006/relationships" r:id="Ra5245519888d44ec"/>
  </p:notesMasterIdLst>
  <p:sldIdLst>
    <p:sldId xmlns:r="http://schemas.openxmlformats.org/officeDocument/2006/relationships" id="256" r:id="R50f1eebf222e4142"/>
    <p:sldId xmlns:r="http://schemas.openxmlformats.org/officeDocument/2006/relationships" id="257" r:id="R43c5a48df62c4712"/>
    <p:sldId xmlns:r="http://schemas.openxmlformats.org/officeDocument/2006/relationships" id="258" r:id="R85dd4a3da0aa41ba"/>
    <p:sldId xmlns:r="http://schemas.openxmlformats.org/officeDocument/2006/relationships" id="259" r:id="Reb387cca141f4a71"/>
    <p:sldId xmlns:r="http://schemas.openxmlformats.org/officeDocument/2006/relationships" id="260" r:id="Rada5fda5c6404898"/>
    <p:sldId xmlns:r="http://schemas.openxmlformats.org/officeDocument/2006/relationships" id="261" r:id="R5a22a33ac3e045da"/>
    <p:sldId xmlns:r="http://schemas.openxmlformats.org/officeDocument/2006/relationships" id="262" r:id="Rb62a7db90c9243b2"/>
    <p:sldId xmlns:r="http://schemas.openxmlformats.org/officeDocument/2006/relationships" id="263" r:id="Rd910427d258747fd"/>
    <p:sldId xmlns:r="http://schemas.openxmlformats.org/officeDocument/2006/relationships" id="264" r:id="Rcd34597eda5e4a98"/>
    <p:sldId xmlns:r="http://schemas.openxmlformats.org/officeDocument/2006/relationships" id="265" r:id="Rf40dbd51b3294982"/>
    <p:sldId xmlns:r="http://schemas.openxmlformats.org/officeDocument/2006/relationships" id="266" r:id="R482acb8eb54a4af6"/>
    <p:sldId xmlns:r="http://schemas.openxmlformats.org/officeDocument/2006/relationships" id="267" r:id="R172c1fb8d4144ea2"/>
    <p:sldId xmlns:r="http://schemas.openxmlformats.org/officeDocument/2006/relationships" id="268" r:id="R165f89f96bd34362"/>
    <p:sldId xmlns:r="http://schemas.openxmlformats.org/officeDocument/2006/relationships" id="269" r:id="R855e193eabc94dbb"/>
    <p:sldId xmlns:r="http://schemas.openxmlformats.org/officeDocument/2006/relationships" id="270" r:id="R2edfb8b98a0342cb"/>
    <p:sldId xmlns:r="http://schemas.openxmlformats.org/officeDocument/2006/relationships" id="271" r:id="R1ad4a5e5fa7e475c"/>
    <p:sldId xmlns:r="http://schemas.openxmlformats.org/officeDocument/2006/relationships" id="272" r:id="Ra81963702bfb445e"/>
    <p:sldId xmlns:r="http://schemas.openxmlformats.org/officeDocument/2006/relationships" id="273" r:id="R68d484b6325d4513"/>
    <p:sldId xmlns:r="http://schemas.openxmlformats.org/officeDocument/2006/relationships" id="274" r:id="Rfd721e7f5e9b4480"/>
    <p:sldId xmlns:r="http://schemas.openxmlformats.org/officeDocument/2006/relationships" id="275" r:id="Rc063c61bd4e74e22"/>
    <p:sldId xmlns:r="http://schemas.openxmlformats.org/officeDocument/2006/relationships" id="276" r:id="R7fa8fda30a834bb4"/>
    <p:sldId xmlns:r="http://schemas.openxmlformats.org/officeDocument/2006/relationships" id="277" r:id="Rd49c4099e83a48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6b9914c1a14e54" /><Relationship Type="http://schemas.openxmlformats.org/officeDocument/2006/relationships/slideMaster" Target="/ppt/slideMasters/slideMaster1.xml" Id="R23e15acaf7934de6" /><Relationship Type="http://schemas.openxmlformats.org/officeDocument/2006/relationships/notesMaster" Target="/ppt/notesMasters/notesMaster1.xml" Id="Ra5245519888d44ec" /><Relationship Type="http://schemas.openxmlformats.org/officeDocument/2006/relationships/presProps" Target="/ppt/presProps.xml" Id="R27ed1489a8944205" /><Relationship Type="http://schemas.openxmlformats.org/officeDocument/2006/relationships/tableStyles" Target="/ppt/tableStyles.xml" Id="R08df9963795b4bbe" /><Relationship Type="http://schemas.openxmlformats.org/officeDocument/2006/relationships/slide" Target="/ppt/slides/slide1.xml" Id="R50f1eebf222e4142" /><Relationship Type="http://schemas.openxmlformats.org/officeDocument/2006/relationships/slide" Target="/ppt/slides/slide2.xml" Id="R43c5a48df62c4712" /><Relationship Type="http://schemas.openxmlformats.org/officeDocument/2006/relationships/slide" Target="/ppt/slides/slide3.xml" Id="R85dd4a3da0aa41ba" /><Relationship Type="http://schemas.openxmlformats.org/officeDocument/2006/relationships/slide" Target="/ppt/slides/slide4.xml" Id="Reb387cca141f4a71" /><Relationship Type="http://schemas.openxmlformats.org/officeDocument/2006/relationships/slide" Target="/ppt/slides/slide5.xml" Id="Rada5fda5c6404898" /><Relationship Type="http://schemas.openxmlformats.org/officeDocument/2006/relationships/slide" Target="/ppt/slides/slide6.xml" Id="R5a22a33ac3e045da" /><Relationship Type="http://schemas.openxmlformats.org/officeDocument/2006/relationships/slide" Target="/ppt/slides/slide7.xml" Id="Rb62a7db90c9243b2" /><Relationship Type="http://schemas.openxmlformats.org/officeDocument/2006/relationships/slide" Target="/ppt/slides/slide8.xml" Id="Rd910427d258747fd" /><Relationship Type="http://schemas.openxmlformats.org/officeDocument/2006/relationships/slide" Target="/ppt/slides/slide9.xml" Id="Rcd34597eda5e4a98" /><Relationship Type="http://schemas.openxmlformats.org/officeDocument/2006/relationships/slide" Target="/ppt/slides/slide10.xml" Id="Rf40dbd51b3294982" /><Relationship Type="http://schemas.openxmlformats.org/officeDocument/2006/relationships/slide" Target="/ppt/slides/slide11.xml" Id="R482acb8eb54a4af6" /><Relationship Type="http://schemas.openxmlformats.org/officeDocument/2006/relationships/slide" Target="/ppt/slides/slide12.xml" Id="R172c1fb8d4144ea2" /><Relationship Type="http://schemas.openxmlformats.org/officeDocument/2006/relationships/slide" Target="/ppt/slides/slide13.xml" Id="R165f89f96bd34362" /><Relationship Type="http://schemas.openxmlformats.org/officeDocument/2006/relationships/slide" Target="/ppt/slides/slide14.xml" Id="R855e193eabc94dbb" /><Relationship Type="http://schemas.openxmlformats.org/officeDocument/2006/relationships/slide" Target="/ppt/slides/slide15.xml" Id="R2edfb8b98a0342cb" /><Relationship Type="http://schemas.openxmlformats.org/officeDocument/2006/relationships/slide" Target="/ppt/slides/slide16.xml" Id="R1ad4a5e5fa7e475c" /><Relationship Type="http://schemas.openxmlformats.org/officeDocument/2006/relationships/slide" Target="/ppt/slides/slide17.xml" Id="Ra81963702bfb445e" /><Relationship Type="http://schemas.openxmlformats.org/officeDocument/2006/relationships/slide" Target="/ppt/slides/slide18.xml" Id="R68d484b6325d4513" /><Relationship Type="http://schemas.openxmlformats.org/officeDocument/2006/relationships/slide" Target="/ppt/slides/slide19.xml" Id="Rfd721e7f5e9b4480" /><Relationship Type="http://schemas.openxmlformats.org/officeDocument/2006/relationships/slide" Target="/ppt/slides/slide20.xml" Id="Rc063c61bd4e74e22" /><Relationship Type="http://schemas.openxmlformats.org/officeDocument/2006/relationships/slide" Target="/ppt/slides/slide21.xml" Id="R7fa8fda30a834bb4" /><Relationship Type="http://schemas.openxmlformats.org/officeDocument/2006/relationships/slide" Target="/ppt/slides/slide22.xml" Id="Rd49c4099e83a48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f54234de8544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eacdb1b0cd4b5f" /><Relationship Type="http://schemas.openxmlformats.org/officeDocument/2006/relationships/notesMaster" Target="/ppt/notesMasters/notesMaster1.xml" Id="Rf42864aec7c54a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9fe19e13664baa" /><Relationship Type="http://schemas.openxmlformats.org/officeDocument/2006/relationships/notesMaster" Target="/ppt/notesMasters/notesMaster1.xml" Id="R37a013fb69044d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f4b31fe9c84384" /><Relationship Type="http://schemas.openxmlformats.org/officeDocument/2006/relationships/notesMaster" Target="/ppt/notesMasters/notesMaster1.xml" Id="Rce169ef9908c4e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43ea41b51944eb" /><Relationship Type="http://schemas.openxmlformats.org/officeDocument/2006/relationships/notesMaster" Target="/ppt/notesMasters/notesMaster1.xml" Id="R432d34671fed41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ce5f7ac44a4759" /><Relationship Type="http://schemas.openxmlformats.org/officeDocument/2006/relationships/notesMaster" Target="/ppt/notesMasters/notesMaster1.xml" Id="Rac7d616919f64d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aded5909a14dfa" /><Relationship Type="http://schemas.openxmlformats.org/officeDocument/2006/relationships/notesMaster" Target="/ppt/notesMasters/notesMaster1.xml" Id="Rda4d8b7888274c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87c6d153a04a8c" /><Relationship Type="http://schemas.openxmlformats.org/officeDocument/2006/relationships/notesMaster" Target="/ppt/notesMasters/notesMaster1.xml" Id="Raefddbbecabc45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7ed898ce664851" /><Relationship Type="http://schemas.openxmlformats.org/officeDocument/2006/relationships/notesMaster" Target="/ppt/notesMasters/notesMaster1.xml" Id="Raec99e19f50f44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b2ab5203714d00" /><Relationship Type="http://schemas.openxmlformats.org/officeDocument/2006/relationships/notesMaster" Target="/ppt/notesMasters/notesMaster1.xml" Id="R38ed0e77d4824a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9273d450274951" /><Relationship Type="http://schemas.openxmlformats.org/officeDocument/2006/relationships/notesMaster" Target="/ppt/notesMasters/notesMaster1.xml" Id="R3ad0293b4d1045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c58222719b4c41" /><Relationship Type="http://schemas.openxmlformats.org/officeDocument/2006/relationships/notesMaster" Target="/ppt/notesMasters/notesMaster1.xml" Id="R5fa376345b774a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6a31eca04f4943" /><Relationship Type="http://schemas.openxmlformats.org/officeDocument/2006/relationships/notesMaster" Target="/ppt/notesMasters/notesMaster1.xml" Id="Rd017f3ba961d48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51d66a0b3b4aad" /><Relationship Type="http://schemas.openxmlformats.org/officeDocument/2006/relationships/notesMaster" Target="/ppt/notesMasters/notesMaster1.xml" Id="R27eb8e120a8647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5f58d18a9b47d3" /><Relationship Type="http://schemas.openxmlformats.org/officeDocument/2006/relationships/notesMaster" Target="/ppt/notesMasters/notesMaster1.xml" Id="R7d13bbd11ad644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398776c7fb4bd4" /><Relationship Type="http://schemas.openxmlformats.org/officeDocument/2006/relationships/notesMaster" Target="/ppt/notesMasters/notesMaster1.xml" Id="R297ce9aae5c14f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2d4e6ac1e14e1c" /><Relationship Type="http://schemas.openxmlformats.org/officeDocument/2006/relationships/notesMaster" Target="/ppt/notesMasters/notesMaster1.xml" Id="R4824bd30b37548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536c793e594b5d" /><Relationship Type="http://schemas.openxmlformats.org/officeDocument/2006/relationships/notesMaster" Target="/ppt/notesMasters/notesMaster1.xml" Id="R49dd17e96bcd4c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5ee1d22bcc4e0b" /><Relationship Type="http://schemas.openxmlformats.org/officeDocument/2006/relationships/notesMaster" Target="/ppt/notesMasters/notesMaster1.xml" Id="R884556149a134b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32a52916094be0" /><Relationship Type="http://schemas.openxmlformats.org/officeDocument/2006/relationships/notesMaster" Target="/ppt/notesMasters/notesMaster1.xml" Id="R606b7c5264d44e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6158491cee04e04" /><Relationship Type="http://schemas.openxmlformats.org/officeDocument/2006/relationships/notesMaster" Target="/ppt/notesMasters/notesMaster1.xml" Id="Rcdf2af303b0f45d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349df2d66b408b" /><Relationship Type="http://schemas.openxmlformats.org/officeDocument/2006/relationships/notesMaster" Target="/ppt/notesMasters/notesMaster1.xml" Id="Ra9a61e5a76fb45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7fbc7f13b842f4" /><Relationship Type="http://schemas.openxmlformats.org/officeDocument/2006/relationships/notesMaster" Target="/ppt/notesMasters/notesMaster1.xml" Id="R7ffef35e754f40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文字情報のソフトウェアを作っているmandel59です。今日は文字の知識と使える技術をつなぎ、自分で調べられるようにしてきた話をします。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始めた理由は、そこにデータがあるのに、自分が調べたい条件で検索できないのが嫌だったからです。公開された一覧と、検索できることは別です。条件を変えてどんな字があるのかを調べたい。紙の索引や既存の画面にその条件がなくても、自分の問いを試せるようにしたかったん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ESRの『How To Become A Hacker』につながる心構えを込めています。使える知識や技術で自分から問題に取り組み、工夫や成果を共有する。記事を踏まえた私の説明です。難しいプログラムを書くことだけでなく、情報の整理や公開、基盤を支える仕事も考え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発表者による要約。逐語引用や唯一の定義ではない。AIへの関連付けは発表者の解釈。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http://www.catb.org/~esr/faqs/hacker-howto.html</a:t>
            </a:r>
          </a:p>
          <a:p xmlns:a="http://schemas.openxmlformats.org/drawingml/2006/main">
            <a:r>
              <a:t>https://cruel.org/freeware/hacker.html</a:t>
            </a:r>
          </a:p>
          <a:p xmlns:a="http://schemas.openxmlformats.org/drawingml/2006/main">
            <a:r>
              <a:t>https://mandel59.hateblo.jp/entry/2023/11/19/212703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2011年にMJ文字情報の一覧を使って検索ソフトウェアを作りました。必要な字を探しやすくしたくて、知っていたSQLiteへ取り込みました。当時の発表には、CSVをSQLiteに変換したことや、Unicodeにない字を扱ったことが書いてあります。TODOには他のデータとの組み合わせや部品検索もあり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画像は旧発表PDF第5ページ。現在の仕様やライセンスを証明する資料にはしない。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C:\Users\mande\ws\cs-research\var\mjlt-111217075152-phpapp01.pdf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手元ではCSVをSQLiteに取り込み、SQLを使えば検索を作れました。未符号化字はFreeTypeでフォントからグリフを取り出して表示しました。Web版をGitHub Pagesで動かすにはXMLとXPathへ変え、表示には画像を使いました。SQLiteを知っていたのは開発者だったからです。利用者には名前が見えなくてもアプリの内部で使われる道具です。こういう道具を知ることで、自分の検索を作るまでの距離が縮ま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手元とWeb版は別の方式。旧PDF第5・6ページ。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C:\Users\mande\ws\cs-research\var\mjlt-111217075152-phpapp01.pdf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jidataでは形式の違うMJやUnihanを取り込みます。一つのセルの複数値は、仕様に従って個別のレコードに分けます。画面は説明用の表です。また、U+5F01のような符号位置の表記を弁という文字列にそろえると、他の表とつなぎやすくなります。区切り方は資料によって違い、意味を読んで決める必要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模式例。実際のテーブル表示ではない。正規化は正しさの保証ではない。MJ字形とUCS抽象文字は単位が違う。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https://github.com/mandel59/mojidata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6:00–7:30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略字に略す前の画数が一番少ない漢字は何か。対応に両側の画数を付け、減るものを元の画数で比べます。既存調査の条件では最小5画で、戹から厄などが候補になります。ただし画数差だけでは意図的に省いた字か分かりません。辞典で関係を確かめます。日本の新字体だけなら收6画と収4画が最小例に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選定したsimplified関係とkJapaneseNewVariant、Unihan総画数先頭値による固定入力の結果。手書き略字全般の最小値ではない。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C:\Users\mande\ws\cs-research\docs\kanji-abbreviation-minimum-strokes.md</a:t>
            </a:r>
          </a:p>
          <a:p xmlns:a="http://schemas.openxmlformats.org/drawingml/2006/main">
            <a:r>
              <a:t>https://dict.variants.moe.edu.tw/dictView.jsp?ID=4977&amp;la=1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7:30–8:30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魚を含む字、魚へんの字、つくりが魚の字は違います。魚へんは魚部の索引で多くを見つけられます。でもつくりが魚の字は、漁なら水部、䗨なら虫部へ分かれます。紙の字典では内画数11の字を丹念に見るような探し方になります。包含だけでなく位置や構造を条件にしたいん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構造の例: 漁=⿰氵魚、䗨=⿰虫魚。現在のMojidata検索結果全体ではない。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C:\Users\mande\ws\cs-research\var\sources\idsgrep-0.6\source\chise.eids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8:30–9:00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角アットマーク、左右構造の記号、疑問符、魚というクエリです。アットマークは字全体へ合わせること。左右構造の左は何でもよく、右は魚を持つという意味です。魚という文字列を含むだけでなく、構造を条件に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ユーザーインターフェースの構文。内部の全体一致記号とは区別する。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https://mojidata.ryusei.dev/</a:t>
            </a:r>
          </a:p>
          <a:p xmlns:a="http://schemas.openxmlformats.org/drawingml/2006/main">
            <a:r>
              <a:t>C:\Users\mande\ws\cs-research\projects\ids-inverted-index-search\README.md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9:00–9:45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染は氿と木の上下構造です。氿を分解すると氵と九の左右構造になります。染の最初の記述に氵がなくても部品を辿れば見つかります。IDS DBは、こうした再帰的な分解の結果を持っています。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保存済み例: 染=⿱氿木、氿=⿰氵九。別条件の検索結果とは混ぜない。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C:\Users\mande\ws\cs-research\projects\ids-inverted-index-search\README.md</a:t>
            </a:r>
          </a:p>
          <a:p xmlns:a="http://schemas.openxmlformats.org/drawingml/2006/main">
            <a:r>
              <a:t>C:\Users\mande\ws\cs-research\docs\mojidata-presentation.md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9:45–10:45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親を先に書くポーランド記法で並べます。AとBは説明用の記号です。青い左側の部分木は、列の中でも連続します。この性質を使って、文字列を検索する仕組みが利用できます。文字の知識と技術の性質がつながるところ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説明用の木。部分木の列の性質と検索構文の意味は別。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C:\Users\mande\ws\cs-research\projects\ids-inverted-index-search\README.md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10:45–12:30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帰的な分解を順序付きの列にして、汎用の全文検索、FTSで候補を絞ります。ワイルドカードや全体一致などの条件は、その後で構造として検査します。FTSだけですべてを判定するわけではありません。専用の仕組みを全部一から作る代わりに、汎用技術が得意な候補絞り込みを活用しています。文字の知識と情報処理をつなぐ使い方が、私にとってハックらしい工夫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学術的な初出や唯一の方法とは主張しない。必要条件による候補絞り込みと構造の検査を分ける。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C:\Users\mande\ws\cs-research\projects\ids-inverted-index-search\README.md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12:30–14:00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合性の仮説を立て、制約をクエリにし、外れる候補を調べます。誤りなのか、仮説に例外があるのか、出典を読んで確かめます。MJでは遡などの部首や内画数の問題を記事にしました。Unihanには𡿨の総画数を3から1へ訂正する報告もしています。ここでの一般的な流れを、当時の正確な発見手順とは言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MJ記事の遡の候補記録は水部・内画数14。抽出SQLは歴史的に未確認。𡿨は2021年の報告とUnicode 14.0向け勧告。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https://mandel59.hateblo.jp/entry/2024/02/09/005117</a:t>
            </a:r>
          </a:p>
          <a:p xmlns:a="http://schemas.openxmlformats.org/drawingml/2006/main">
            <a:r>
              <a:t>https://www.unicode.org/review/pri433/feedback.html</a:t>
            </a:r>
          </a:p>
          <a:p xmlns:a="http://schemas.openxmlformats.org/drawingml/2006/main">
            <a:r>
              <a:t>https://www.unicode.org/L2/L2021/21129-cjk-unihan-group-utc168.pdf#page=22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14:00–16:00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2022年にIDS検索で常用漢字にそっくりな字を探しました。十と𬂛、兵と𠔊などです。Unihanの関係情報と照合し、未登録の関係を提案しました。専門家の検討では一部の分類を修正し、Unicode 15.0へ向けた更新を勧告しました。見つけた候補がそのまま正しい分類になるとは限りません。根拠を持ち寄って検討へ参加することも、公開データを使うことの広がりです。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L2/22-133は2022-07-05付。分類修正とUnicode 15.0向け勧告を区別し、現行データへの全候補反映とは主張しない。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https://www.unicode.org/L2/L2022/22133-kspoofing-kzvariant-cand.pdf</a:t>
            </a:r>
          </a:p>
          <a:p xmlns:a="http://schemas.openxmlformats.org/drawingml/2006/main">
            <a:r>
              <a:t>https://www.unicode.org/L2/L2022/22127-cjk-unihan-group-utc172.pdf#page=22</a:t>
            </a:r>
          </a:p>
          <a:p xmlns:a="http://schemas.openxmlformats.org/drawingml/2006/main">
            <a:r>
              <a:t>https://x.com/mandel59/status/1543854321150099456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16:00–16:30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しい人は辞書を読んで多くの字を覚え、脳そのものが自由な索引になります。来歴や文脈、文字の原理への洞察もあります。一方、外部化した知識なら大量の記録を同じ条件で調べ、他の人が検証し再利用できます。この両方をつなぐことが大事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16:30–17:00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UCSで既に符号化された字かどうかは、形や構造だけでは判断できず、統合基準の知識も必要です。現状はZ Variantなどで同一性を補っています。UCVのような基準が再利用できるオープンデータになれば、より正確な処理や標準化支援の道具を作れます。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UCV=Unifiable Component Variations。将来への希望。現在の利用条件の調査結果や実装済みの機能として述べない。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C:\Users\mande\ws\cs-research\projects\ids-inverted-index-search\README.md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17:00–17:30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私は最近、Mojidataの更新でもAIにかなり頼っています。プロパティの差分確認や、日本の新旧字体の取り扱いの更新などです。心構えは技能の代用になりませんが、必要な技能を借りて取り組むことも、一緒に学ぶこともできます。使える技術で問題に取り組む姿勢は同じ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本人の説明とローカル履歴db872f60、91b03714（2026-09-22）。両コミットにCodex生成記録。全判断をAIに帰属させない。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https://github.com/mandel59/mojidata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17:30–18:00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プンデータを自分で分析してみよう。対応表や誤り候補、クエリだけでも、次の人が加工できる形で公開してほしいです。出典と利用条件を付け、確定事項と要検証を分ける。データを整える仕事も参加です。公開された知識を使い、検証や改善へ参加する点でオープンサイエンスにもつなが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本編はここまで。18分と余裕2分を想定。後続4枚は補足。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https://www.unesco.org/en/open-science/about</a:t>
            </a:r>
          </a:p>
          <a:p xmlns:a="http://schemas.openxmlformats.org/drawingml/2006/main">
            <a:r>
              <a:t>https://mojidata.ryusei.dev/</a:t>
            </a:r>
          </a:p>
          <a:p xmlns:a="http://schemas.openxmlformats.org/drawingml/2006/main">
            <a:r>
              <a:t>https://github.com/mandel59/mojidata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補足 /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Definitionでセミコロンを複数値の区切りにする仕様変更がありましたが、自由文では説明途中や括弧内にも出てきます。2024年2月に報告し、検討ではデータを変えず仕様変更を戻す方向となりました。文書から区切り方を取り出す実装は6月であり、2月の発見原因だったとは言え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Mojidata 0d9b844cは2024-06-06。発見経路は未確認。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https://www.unicode.org/review/pri483/feedback.html#ID20240215045359</a:t>
            </a:r>
          </a:p>
          <a:p xmlns:a="http://schemas.openxmlformats.org/drawingml/2006/main">
            <a:r>
              <a:t>https://www.unicode.org/L2/L2024/24067-cjk-unihan-wg-utc179.pdf#page=4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補足 /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月22日はUnicodeのプロパティ定義と実データの差分確認の手順を文書化し、日本の新旧字体を検索対象に含めました。この二件にはCodexの生成記録があります。10月10日のIVD・文字マップ更新には登録差分と既存データへの影響の確認が記録され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ローカル履歴db872f60、91b03714、167f36bc。docs/unicode-update.md、docs/data-updates/2026-10-10-ivd-cmap.md。検査を再実行した証明や公開済みの証明とはしない。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https://github.com/mandel59/mojidata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補足 /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選んだsimplified関係と日本の新字体の関係では、最小の対応元は5画でこの6字が候補です。日本の新字体だけなら收6画と収4画。Unihanの先頭の画数値を使っています。手書き略字全般を網羅せず、成立順序も表からは分か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選定されたsimplifiedラベルとkJapaneseNewVariant。画数が既知で減る対応を比較。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C:\Users\mande\ws\cs-research\docs\kanji-abbreviation-minimum-strokes.md</a:t>
            </a:r>
          </a:p>
          <a:p xmlns:a="http://schemas.openxmlformats.org/drawingml/2006/main">
            <a:r>
              <a:t>https://dict.variants.moe.edu.tw/dictView.jsp?ID=4977&amp;la=1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補足 /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参照文献とMojidataの入口です。公開検索を使う、データを整える、erq-mojidata-playgroundをクローンして分析することなどから参加できます。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 / Sources</a:t>
            </a:r>
          </a:p>
          <a:p xmlns:a="http://schemas.openxmlformats.org/drawingml/2006/main">
            <a:r>
              <a:t>http://www.catb.org/~esr/faqs/hacker-howto.html</a:t>
            </a:r>
          </a:p>
          <a:p xmlns:a="http://schemas.openxmlformats.org/drawingml/2006/main">
            <a:r>
              <a:t>https://cruel.org/freeware/hacker.html</a:t>
            </a:r>
          </a:p>
          <a:p xmlns:a="http://schemas.openxmlformats.org/drawingml/2006/main">
            <a:r>
              <a:t>https://mandel59.hateblo.jp/entry/2023/11/19/212703</a:t>
            </a:r>
          </a:p>
          <a:p xmlns:a="http://schemas.openxmlformats.org/drawingml/2006/main">
            <a:r>
              <a:t>https://mandel59.hateblo.jp/entry/2024/02/09/005117</a:t>
            </a:r>
          </a:p>
          <a:p xmlns:a="http://schemas.openxmlformats.org/drawingml/2006/main">
            <a:r>
              <a:t>https://www.unicode.org/review/pri433/feedback.html</a:t>
            </a:r>
          </a:p>
          <a:p xmlns:a="http://schemas.openxmlformats.org/drawingml/2006/main">
            <a:r>
              <a:t>https://www.unicode.org/L2/L2021/21129-cjk-unihan-group-utc168.pdf#page=22</a:t>
            </a:r>
          </a:p>
          <a:p xmlns:a="http://schemas.openxmlformats.org/drawingml/2006/main">
            <a:r>
              <a:t>https://www.unicode.org/L2/L2022/22133-kspoofing-kzvariant-cand.pdf</a:t>
            </a:r>
          </a:p>
          <a:p xmlns:a="http://schemas.openxmlformats.org/drawingml/2006/main">
            <a:r>
              <a:t>https://www.unicode.org/L2/L2022/22127-cjk-unihan-group-utc172.pdf#page=22</a:t>
            </a:r>
          </a:p>
          <a:p xmlns:a="http://schemas.openxmlformats.org/drawingml/2006/main">
            <a:r>
              <a:t>https://www.unicode.org/review/pri483/feedback.html#ID20240215045359</a:t>
            </a:r>
          </a:p>
          <a:p xmlns:a="http://schemas.openxmlformats.org/drawingml/2006/main">
            <a:r>
              <a:t>https://www.unicode.org/L2/L2024/24067-cjk-unihan-wg-utc179.pdf#page=4</a:t>
            </a:r>
          </a:p>
          <a:p xmlns:a="http://schemas.openxmlformats.org/drawingml/2006/main">
            <a:r>
              <a:t>https://dict.variants.moe.edu.tw/dictView.jsp?ID=4977&amp;la=1</a:t>
            </a:r>
          </a:p>
          <a:p xmlns:a="http://schemas.openxmlformats.org/drawingml/2006/main">
            <a:r>
              <a:t>https://www.unesco.org/en/open-science/about</a:t>
            </a:r>
          </a:p>
          <a:p xmlns:a="http://schemas.openxmlformats.org/drawingml/2006/main">
            <a:r>
              <a:t>https://github.com/mandel59/mojidata</a:t>
            </a:r>
          </a:p>
          <a:p xmlns:a="http://schemas.openxmlformats.org/drawingml/2006/main">
            <a:r>
              <a:t>https://mojidata.ryusei.dev/</a:t>
            </a:r>
          </a:p>
          <a:p xmlns:a="http://schemas.openxmlformats.org/drawingml/2006/main">
            <a:r>
              <a:t>C:\Users\mande\ws\cs-research\docs\biangbiangcon-open-character-data.md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9d197c0c442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81c253dc149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83504cb174d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e269187ce4a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7847a98344a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fdb96f60d41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5D7031-C4C6-4B93-8D43-D955B62D6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AC8406-1400-4E04-A8DD-AFA6735214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1259B7-36D2-4C14-AB31-6A01B1CEFF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B406E4-981F-4C97-8B60-DEB5110A89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E8B3E7-B7C4-4AF2-9673-B779010FA7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D539F4-C9A2-4A87-A5E3-703D43586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CF0256-4AE4-481B-923A-1C403BF025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327B24-0320-4C9C-80CD-F860438160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2C33E4-772E-4112-908E-34DAC5844F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287B4-0BC8-4250-A46E-1641AA281A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7a4ce62af24b29" /><Relationship Type="http://schemas.openxmlformats.org/officeDocument/2006/relationships/slideLayout" Target="/ppt/slideLayouts/slideLayout1.xml" Id="R55cebd0f97ae4e6d" /><Relationship Type="http://schemas.openxmlformats.org/officeDocument/2006/relationships/slideLayout" Target="/ppt/slideLayouts/slideLayout2.xml" Id="R0a3a06d79cb742dd" /><Relationship Type="http://schemas.openxmlformats.org/officeDocument/2006/relationships/slideLayout" Target="/ppt/slideLayouts/slideLayout3.xml" Id="R69c80ed4596e4cd4" /><Relationship Type="http://schemas.openxmlformats.org/officeDocument/2006/relationships/slideLayout" Target="/ppt/slideLayouts/slideLayout4.xml" Id="R8129356889b74b4a" /><Relationship Type="http://schemas.openxmlformats.org/officeDocument/2006/relationships/slideLayout" Target="/ppt/slideLayouts/slideLayout5.xml" Id="R4ab0544965bb41b5" /><Relationship Type="http://schemas.openxmlformats.org/officeDocument/2006/relationships/slideLayout" Target="/ppt/slideLayouts/slideLayout6.xml" Id="R969aeb1be52a43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cebd0f97ae4e6d"/>
    <p:sldLayoutId xmlns:r="http://schemas.openxmlformats.org/officeDocument/2006/relationships" id="2147483650" r:id="R0a3a06d79cb742dd"/>
    <p:sldLayoutId xmlns:r="http://schemas.openxmlformats.org/officeDocument/2006/relationships" id="2147483651" r:id="R69c80ed4596e4cd4"/>
    <p:sldLayoutId xmlns:r="http://schemas.openxmlformats.org/officeDocument/2006/relationships" id="2147483652" r:id="R8129356889b74b4a"/>
    <p:sldLayoutId xmlns:r="http://schemas.openxmlformats.org/officeDocument/2006/relationships" id="2147483653" r:id="R4ab0544965bb41b5"/>
    <p:sldLayoutId xmlns:r="http://schemas.openxmlformats.org/officeDocument/2006/relationships" id="2147483654" r:id="R969aeb1be52a43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549b0bc704967" /><Relationship Type="http://schemas.openxmlformats.org/officeDocument/2006/relationships/notesSlide" Target="/ppt/notesSlides/notesSlide1.xml" Id="R95265e93a2e643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e237961cf4ea2" /><Relationship Type="http://schemas.openxmlformats.org/officeDocument/2006/relationships/notesSlide" Target="/ppt/notesSlides/notesSlide2.xml" Id="Ra5610ddf218b42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449288bb5407b" /><Relationship Type="http://schemas.openxmlformats.org/officeDocument/2006/relationships/hyperlink" Target="https://cruel.org/freeware/hacker.html" TargetMode="External" Id="R9819f285b456400c" /><Relationship Type="http://schemas.openxmlformats.org/officeDocument/2006/relationships/notesSlide" Target="/ppt/notesSlides/notesSlide3.xml" Id="Rcf2baac1dc9244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bd3965d434c65" /><Relationship Type="http://schemas.openxmlformats.org/officeDocument/2006/relationships/image" Target="/ppt/media/image.png" Id="R7f3088665a1f4b67" /><Relationship Type="http://schemas.openxmlformats.org/officeDocument/2006/relationships/notesSlide" Target="/ppt/notesSlides/notesSlide4.xml" Id="R5f266a40ec8746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47479fa0f343d5" /><Relationship Type="http://schemas.openxmlformats.org/officeDocument/2006/relationships/notesSlide" Target="/ppt/notesSlides/notesSlide5.xml" Id="R5f4b03a66e4347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b9e7efc09d4365" /><Relationship Type="http://schemas.openxmlformats.org/officeDocument/2006/relationships/notesSlide" Target="/ppt/notesSlides/notesSlide6.xml" Id="Rbe6aef1820d844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2df2ef8de4b60" /><Relationship Type="http://schemas.openxmlformats.org/officeDocument/2006/relationships/notesSlide" Target="/ppt/notesSlides/notesSlide7.xml" Id="R062be48f65ad42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55e377ea3b4bd6" /><Relationship Type="http://schemas.openxmlformats.org/officeDocument/2006/relationships/notesSlide" Target="/ppt/notesSlides/notesSlide8.xml" Id="Rbe6f8145a05d4a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0cd9fa40846ff" /><Relationship Type="http://schemas.openxmlformats.org/officeDocument/2006/relationships/hyperlink" Target="https://mojidata.ryusei.dev/" TargetMode="External" Id="Rd1aea5109b244530" /><Relationship Type="http://schemas.openxmlformats.org/officeDocument/2006/relationships/notesSlide" Target="/ppt/notesSlides/notesSlide9.xml" Id="R944a7fd2c4f843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3ab03fbd44949" /><Relationship Type="http://schemas.openxmlformats.org/officeDocument/2006/relationships/notesSlide" Target="/ppt/notesSlides/notesSlide10.xml" Id="R48246570917b45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5ff3012d945ef" /><Relationship Type="http://schemas.openxmlformats.org/officeDocument/2006/relationships/notesSlide" Target="/ppt/notesSlides/notesSlide11.xml" Id="R961c9bdec2f145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6330c29394d81" /><Relationship Type="http://schemas.openxmlformats.org/officeDocument/2006/relationships/notesSlide" Target="/ppt/notesSlides/notesSlide12.xml" Id="Rd0d3ba8f581e41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eb91203fb457e" /><Relationship Type="http://schemas.openxmlformats.org/officeDocument/2006/relationships/notesSlide" Target="/ppt/notesSlides/notesSlide13.xml" Id="R416f242a95bf46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91b6d58e44834" /><Relationship Type="http://schemas.openxmlformats.org/officeDocument/2006/relationships/notesSlide" Target="/ppt/notesSlides/notesSlide14.xml" Id="R0e2bcb0872074f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e621e188f84a94" /><Relationship Type="http://schemas.openxmlformats.org/officeDocument/2006/relationships/notesSlide" Target="/ppt/notesSlides/notesSlide15.xml" Id="Rf8630174cbbb42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d904808164762" /><Relationship Type="http://schemas.openxmlformats.org/officeDocument/2006/relationships/notesSlide" Target="/ppt/notesSlides/notesSlide16.xml" Id="Re2f9ce654bf440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900abc9da497e" /><Relationship Type="http://schemas.openxmlformats.org/officeDocument/2006/relationships/notesSlide" Target="/ppt/notesSlides/notesSlide17.xml" Id="R6686d1e3e5c94f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78cbfc67c44cb" /><Relationship Type="http://schemas.openxmlformats.org/officeDocument/2006/relationships/notesSlide" Target="/ppt/notesSlides/notesSlide18.xml" Id="R5cf168e0109e42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5fdb27b33d4e0f" /><Relationship Type="http://schemas.openxmlformats.org/officeDocument/2006/relationships/notesSlide" Target="/ppt/notesSlides/notesSlide19.xml" Id="R8740315a559d4b3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3bfa615574497" /><Relationship Type="http://schemas.openxmlformats.org/officeDocument/2006/relationships/notesSlide" Target="/ppt/notesSlides/notesSlide20.xml" Id="R4cb9395344b0452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5cbe5ae9c427a" /><Relationship Type="http://schemas.openxmlformats.org/officeDocument/2006/relationships/notesSlide" Target="/ppt/notesSlides/notesSlide21.xml" Id="Re8709f49b3944c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7ead30cfed46b8" /><Relationship Type="http://schemas.openxmlformats.org/officeDocument/2006/relationships/hyperlink" Target="https://cruel.org/freeware/hacker.html" TargetMode="External" Id="Ra45b9d4cb9424213" /><Relationship Type="http://schemas.openxmlformats.org/officeDocument/2006/relationships/hyperlink" Target="https://mandel59.hateblo.jp/entry/2023/11/19/212703" TargetMode="External" Id="Rc27b8247a0394b55" /><Relationship Type="http://schemas.openxmlformats.org/officeDocument/2006/relationships/hyperlink" Target="https://mandel59.hateblo.jp/entry/2024/02/09/005117" TargetMode="External" Id="R3452b347757c4bd3" /><Relationship Type="http://schemas.openxmlformats.org/officeDocument/2006/relationships/hyperlink" Target="https://www.unicode.org/L2/L2022/22133-kspoofing-kzvariant-cand.pdf" TargetMode="External" Id="R40abad278f7a4286" /><Relationship Type="http://schemas.openxmlformats.org/officeDocument/2006/relationships/hyperlink" Target="https://www.unesco.org/en/open-science/about" TargetMode="External" Id="R3dfdbf4f248145ac" /><Relationship Type="http://schemas.openxmlformats.org/officeDocument/2006/relationships/hyperlink" Target="https://mojidata.ryusei.dev/" TargetMode="External" Id="Ra60befb14c8142ff" /><Relationship Type="http://schemas.openxmlformats.org/officeDocument/2006/relationships/notesSlide" Target="/ppt/notesSlides/notesSlide22.xml" Id="Rceca85ba3a374c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C315C-ED5A-47B3-A381-206D873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C599F-E440-4480-94A0-8A1210E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510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文字情報ハックのすすめ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F3A84-4B62-47F8-A394-2E97E8A5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An Invitation to Hacking Character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085F1-202F-446F-8190-4AAB79AF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Ryusei Yamaguchi / mandel59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8A29A-3237-405B-9B5A-ACEFA706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BiangBiangCon</a:t>
            </a:r>
          </a:p>
        </p:txBody>
      </p:sp>
    </p:spTree>
    <p:extLst>
      <p:ext uri="{BB962C8B-B14F-4D97-AF65-F5344CB8AC3E}">
        <p14:creationId xmlns:p14="http://schemas.microsoft.com/office/powerpoint/2010/main" val="1344654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AA705-7EC9-458C-B0C1-BAC917EF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データはあるのに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11CA4-A319-49A9-B18D-77143C79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The data is there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D580E-1C04-4697-9BE7-599C6CA6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C4C57-7858-4061-A65E-21EC31FA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10382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49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調べたい条件で</a:t>
            </a:r>
          </a:p>
          <a:p xmlns:a="http://schemas.openxmlformats.org/drawingml/2006/main">
            <a:pPr>
              <a:defRPr sz="49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49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検索できない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109CF-7E62-43C1-9A0E-7E3E017A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I cannot search by the conditions I care about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191A6-F8D1-4087-B655-E0B8476B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483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その検索を、自分で作ってみる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04DAC-15FA-41F4-BE21-15E7E6B5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91225"/>
            <a:ext cx="10382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I can try building that search myself</a:t>
            </a:r>
          </a:p>
        </p:txBody>
      </p:sp>
    </p:spTree>
    <p:extLst>
      <p:ext uri="{BB962C8B-B14F-4D97-AF65-F5344CB8AC3E}">
        <p14:creationId xmlns:p14="http://schemas.microsoft.com/office/powerpoint/2010/main" val="2056247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23B9F-2152-43FF-8994-5E3D816A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ハッカーの心構え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BB489-4FF8-45FF-B0BD-0A6BB8C3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 hacker's attitude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914DA-0269-41CF-B218-B2515A16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1BC8E-853A-45FC-9972-8D51BD23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自分から問題に取り組む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3C842-2AE9-4EEE-9B21-86F36199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Take initiative in solving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53CDC-F524-47E2-BED2-62325E81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既にある知識や技術を使う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9E26E-013E-4010-8379-5596FF20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Build on existing knowledge and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51A88-2EE6-49B7-B3A2-99562EF3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工夫や成果を共有する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E8C26-C046-4D7A-A9F3-CA972E20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Share the work and what you 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EF951-A69A-447B-ACF3-EFD2B5CB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245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9819f285b456400c"/>
              </a:rPr>
              <a:t>Eric S. Raymond  How To Become A Hacker / 日本語訳</a:t>
            </a:r>
          </a:p>
        </p:txBody>
      </p:sp>
    </p:spTree>
    <p:extLst>
      <p:ext uri="{BB962C8B-B14F-4D97-AF65-F5344CB8AC3E}">
        <p14:creationId xmlns:p14="http://schemas.microsoft.com/office/powerpoint/2010/main" val="875169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4C247-4CD7-4C2B-BBA1-982A57DD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2011年のMJ検索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3DF6A-FE70-4C02-87AB-7CE33CF6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Searching MJ character data in 2011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15B7A-8A88-4395-8658-EFD5869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71776-61E2-43F2-9B41-1979C3C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一覧を取り込んで</a:t>
            </a:r>
          </a:p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自分の検索を作る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A0816-6D1B-4CA5-BEFC-A76385F4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Import the list and make it searchable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97819-1790-42F6-A420-141F42FE4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088665a1f4b67"/>
          <a:stretch xmlns:a="http://schemas.openxmlformats.org/drawingml/2006/main"/>
        </p:blipFill>
        <p:spPr>
          <a:xfrm xmlns:a="http://schemas.openxmlformats.org/drawingml/2006/main">
            <a:off x="6048375" y="2000250"/>
            <a:ext cx="53340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0A4C2-FBF7-49B7-96F3-B30D597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086475"/>
            <a:ext cx="5219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Ryusei Yamaguchi「IPAmj明朝の漢字を検索」</a:t>
            </a:r>
          </a:p>
        </p:txBody>
      </p:sp>
    </p:spTree>
    <p:extLst>
      <p:ext uri="{BB962C8B-B14F-4D97-AF65-F5344CB8AC3E}">
        <p14:creationId xmlns:p14="http://schemas.microsoft.com/office/powerpoint/2010/main" val="683675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D2CD0-DC0E-4BC4-B218-FA274631088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381750" y="3171825"/>
            <a:ext cx="27146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DE426-9636-43D7-ABBA-79F63F75E448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333750" y="3171825"/>
            <a:ext cx="3048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8DCFC-58D6-49EB-B199-CBBF7B85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環境に合わせて道具を選ぶ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4751F-71F1-4BCC-8724-32761B86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Choosing tools for the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FF08F-7446-4951-92CE-588C8994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D5773-0CDF-4E2E-BD3C-62BB23D8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33575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MJの文字情報一覧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AC1A5-0B31-4C06-87E0-E4CA8FBA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Published MJ character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00785-BBC4-434A-A792-648184AA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004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CSV ＋ 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D26B3-9CE0-4414-93A5-7C90A5CD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Local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88B73-377C-496D-9CE5-204F0854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XML ＋ XPath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D95F2-ACBA-4387-9259-C7407C37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386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Web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EF78D-7604-42BA-8ABB-9721E27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672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未符号化字はFreeTypeで表示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E7805-455D-4C91-8BAF-EE85910B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01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Render unencoded glyphs from the font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D574F-F7BD-41A6-99D3-4AA215E5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未符号化字は画像で表示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D3D73-9867-4E3C-AEE2-3B9FCBD8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0175"/>
            <a:ext cx="442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Display images of unencoded glyphs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04853-6AD3-497F-BDB4-82333120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知っている技術で、使える検索にする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F28CB-6A91-48D3-841A-7C01D971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579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Turn available data into a search you can use</a:t>
            </a:r>
          </a:p>
        </p:txBody>
      </p:sp>
    </p:spTree>
    <p:extLst>
      <p:ext uri="{BB962C8B-B14F-4D97-AF65-F5344CB8AC3E}">
        <p14:creationId xmlns:p14="http://schemas.microsoft.com/office/powerpoint/2010/main" val="1930129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FDDF7-8C6D-428A-8C8A-2E810C8474A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7750" y="4095750"/>
            <a:ext cx="2333625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39B5A-923D-4A48-AD1D-22A6CA86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検索しやすい形に整える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F5B02-403A-4594-8E38-9A27A8AF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Preparing data for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A3A35-C330-4B11-B40E-7D36BCEF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21C65-FBCF-489E-8541-39A6311C567E}"/>
              </a:ext>
            </a:extLst>
          </p:cNvPr>
          <p:cNvGraphicFramePr/>
          <p:nvPr/>
        </p:nvGraphicFramePr>
        <p:xfrm>
          <a:off xmlns:a="http://schemas.openxmlformats.org/drawingml/2006/main" x="762000" y="2247900"/>
          <a:ext xmlns:a="http://schemas.openxmlformats.org/drawingml/2006/main" cx="48577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048000"/>
              </a:tblGrid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字 / Character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値 / Values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弁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瓣 辨 辯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CAC1A-2DA7-4533-B09B-A7A45E0C66F6}"/>
              </a:ext>
            </a:extLst>
          </p:cNvPr>
          <p:cNvGraphicFramePr/>
          <p:nvPr/>
        </p:nvGraphicFramePr>
        <p:xfrm>
          <a:off xmlns:a="http://schemas.openxmlformats.org/drawingml/2006/main" x="6953250" y="2247900"/>
          <a:ext xmlns:a="http://schemas.openxmlformats.org/drawingml/2006/main" cx="447675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667000"/>
              </a:tblGrid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字 / Character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値 / Value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弁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瓣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弁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辨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弁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辯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EDE5B-5E5B-46A5-8CAF-CB04F240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複数値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5090D-A29E-4791-87CC-5FA3BB42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9112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個別の行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84048-C9A9-427A-A0DF-6408390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Multiple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CB36C-813F-4C25-9A61-23CEAA06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676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Separate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AC7E7-2EE9-474E-A580-0AFCE908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模式例 / Schematic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70B97-B206-454C-9E46-5B592577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符号位置の表記もそろえる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012A5-F01D-4DF3-8BFD-B9CD32B8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Use UCS strings as common join keys</a:t>
            </a:r>
          </a:p>
        </p:txBody>
      </p:sp>
    </p:spTree>
    <p:extLst>
      <p:ext uri="{BB962C8B-B14F-4D97-AF65-F5344CB8AC3E}">
        <p14:creationId xmlns:p14="http://schemas.microsoft.com/office/powerpoint/2010/main" val="461882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56E48-C9DC-4905-A149-DAD3B9BA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字の対応と画数をつなぐ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08760-BDAC-4C88-9205-156D726C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Connecting relationships and stroke counts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49E84-DABF-4D93-9A01-3B90D834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28CCD-04FE-4390-82E5-F53A6D1D25DB}"/>
              </a:ext>
            </a:extLst>
          </p:cNvPr>
          <p:cNvGraphicFramePr/>
          <p:nvPr/>
        </p:nvGraphicFramePr>
        <p:xfrm>
          <a:off xmlns:a="http://schemas.openxmlformats.org/drawingml/2006/main" x="762000" y="2105025"/>
          <a:ext xmlns:a="http://schemas.openxmlformats.org/drawingml/2006/main" cx="4762500" cy="140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381250"/>
              </a:tblGrid>
              <a:tr h="7048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対応元 / Source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対応先 / Target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戹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厄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6C639-890B-4C38-929D-6CE18EE2C8AA}"/>
              </a:ext>
            </a:extLst>
          </p:cNvPr>
          <p:cNvGraphicFramePr/>
          <p:nvPr/>
        </p:nvGraphicFramePr>
        <p:xfrm>
          <a:off xmlns:a="http://schemas.openxmlformats.org/drawingml/2006/main" x="6953250" y="2105025"/>
          <a:ext xmlns:a="http://schemas.openxmlformats.org/drawingml/2006/main" cx="466725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333625"/>
              </a:tblGrid>
              <a:tr h="7048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字 / Character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画数 / Strokes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戹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厄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8DAE6-4567-48C2-8795-5720169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2400"/>
            <a:ext cx="1714500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75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9075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pPr>
            <a:r>
              <a:rPr sz="9075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rPr>
              <a:t>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56ED2-45FA-4D7B-B91F-BBEC9892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38625"/>
            <a:ext cx="3714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5画 / 5 strokes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BE1CB-98FC-4033-B2ED-B09D52A3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19575"/>
            <a:ext cx="1428750" cy="136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765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765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pPr>
            <a:r>
              <a:rPr sz="765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rPr>
              <a:t>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06564-AFF4-4378-B70B-51162A6A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6722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4画 / 4 strokes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D76CF-B442-4609-96F0-A86D1CE6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関係の来歴は、出典で確かめる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0EDB2-6AF2-4340-81EC-06E47E3D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Check the history in the sources</a:t>
            </a:r>
          </a:p>
        </p:txBody>
      </p:sp>
    </p:spTree>
    <p:extLst>
      <p:ext uri="{BB962C8B-B14F-4D97-AF65-F5344CB8AC3E}">
        <p14:creationId xmlns:p14="http://schemas.microsoft.com/office/powerpoint/2010/main" val="1627128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DBDA4-3DFD-419E-82C4-C1A060F3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つくりが魚の漢字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BB460-9147-4DDA-BF03-1179E43D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Characters with 魚 on the right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9ED5C-BB6D-4069-9A89-D0A418D4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09FBF-CAD4-4F1C-9185-FBDA71CF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魚へん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0A968-719A-4B19-BCB2-DD2AEA94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Fish on the left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34359-6644-48EE-99E3-372BF23F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857500" cy="2080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7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117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117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B00D9-B578-48E6-95E4-3CC2484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387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魚部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3CF8B-B3CC-422C-96ED-8A589069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816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Fish radical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38A58-BF9D-4158-9D69-0DF8630D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つくりが魚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B818B-5722-4D02-8D65-B76A85F4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Fish on the right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A2967-D8C2-4B62-90AA-8BBA14BC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2143125" cy="2080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7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117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pPr>
            <a:r>
              <a:rPr sz="117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rPr>
              <a:t>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73124-75E6-48F1-B052-9DD684E6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143125" cy="2080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7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117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pPr>
            <a:r>
              <a:rPr sz="117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rPr>
              <a:t>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5E8E6-17EE-442C-B691-5D58E9B8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3872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水部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A6870-35C8-4955-BFDC-0C48185D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816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Water radical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95550-5535-4E06-B628-6A414CB9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387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虫部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1D470-88ED-4AD7-BA6E-31FB0A2E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5816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Insect radical</a:t>
            </a:r>
          </a:p>
        </p:txBody>
      </p:sp>
    </p:spTree>
    <p:extLst>
      <p:ext uri="{BB962C8B-B14F-4D97-AF65-F5344CB8AC3E}">
        <p14:creationId xmlns:p14="http://schemas.microsoft.com/office/powerpoint/2010/main" val="11583635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9925F-DADE-4CF3-8A40-80D164EB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構造を条件にする検索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BF871-BA47-485E-B80D-FC13ABB0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 query for the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9E279-583D-4521-99FF-B0C7C918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70E0D-72B4-4948-B8BE-64F14168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102870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7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87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pPr>
            <a:r>
              <a:rPr sz="87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rPr>
              <a:t>＠⿰？魚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28E1B-39A8-48F7-A7D5-FB84B6C2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219075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1B1EF-E647-424B-BBD3-7EDD5E4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字全体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079D2-D646-439B-8B20-984ED8EC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3402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Whole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C60B0-FA21-46AF-9897-36F1C614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219075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37791-7EFF-41A5-B134-F08F3435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9110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左右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ABD4A-EDC0-4860-A055-B736F320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3402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Left–right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C5578-AAF1-4CAB-8060-2006ECDB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19075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D16BF-DD14-4238-B8DC-D136B5DF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9110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左側は任意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AFB7D-4BCE-4ACA-8C59-07A1C41F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3402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Any left component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FF0E0-CAE7-44CB-B1A8-C0F6DA04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29075"/>
            <a:ext cx="219075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0E082-A430-4C43-8183-36F82EF9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99110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右側が魚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C950C-1201-47FE-AB24-3928B72C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3402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Fish on the right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25262-5051-4BAA-B6BA-408A1349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722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007D81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d1aea5109b244530"/>
              </a:rPr>
              <a:t>mojidata.ryusei.dev</a:t>
            </a:r>
          </a:p>
        </p:txBody>
      </p:sp>
    </p:spTree>
    <p:extLst>
      <p:ext uri="{BB962C8B-B14F-4D97-AF65-F5344CB8AC3E}">
        <p14:creationId xmlns:p14="http://schemas.microsoft.com/office/powerpoint/2010/main" val="6113812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A44AE-7EFF-4E23-8FF1-9F203787202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48375" y="4097655"/>
            <a:ext cx="1047750" cy="65532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non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2D9FD-9575-447C-8331-CE04774024F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5095875" y="4097655"/>
            <a:ext cx="952500" cy="65532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non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E793F-5C6B-453D-8A6D-3ABE111ECFC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953375" y="2668905"/>
            <a:ext cx="1905000" cy="52197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non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D5B5A-379E-428F-B9A8-7B65F5ADAC0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6048375" y="2668905"/>
            <a:ext cx="1905000" cy="52197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non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723DF-F8F2-4E1F-AC6A-C4E8E095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部品を再帰的に辿る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CCAA7-86A6-47E5-B72C-54E6C943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Following components recursively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7C6C5-43AD-4814-94D8-2FF5EFC3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C7A93-474C-4B8A-9165-D9CFEA09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3048000" cy="224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6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126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126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F0EAC-60DD-4439-A96B-DF9C0A70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43425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0">
                <a:solidFill>
                  <a:srgbClr val="5E7075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4050" b="0">
                <a:solidFill>
                  <a:srgbClr val="5E7075"/>
                </a:solidFill>
                <a:latin typeface="BabelStone Han"/>
                <a:ea typeface="BabelStone Han"/>
                <a:cs typeface="BabelStone Han"/>
              </a:defRPr>
            </a:pPr>
            <a:r>
              <a:rPr sz="4050" b="0">
                <a:solidFill>
                  <a:srgbClr val="5E7075"/>
                </a:solidFill>
                <a:latin typeface="BabelStone Han"/>
                <a:ea typeface="BabelStone Han"/>
                <a:cs typeface="BabelStone Han"/>
              </a:rPr>
              <a:t>⿱氿木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32130-EE5A-4589-9334-84BE6D2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62125"/>
            <a:ext cx="952500" cy="90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51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51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2EE2D-4E44-4EA7-A814-227B03A0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90875"/>
            <a:ext cx="952500" cy="90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51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pPr>
            <a:r>
              <a:rPr sz="51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rPr>
              <a:t>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5F12F-70FD-4363-8F73-AB767FDA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90875"/>
            <a:ext cx="952500" cy="90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51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51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8BCF5-F183-42A9-81BF-7D64F37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52975"/>
            <a:ext cx="952500" cy="90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51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pPr>
            <a:r>
              <a:rPr sz="51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rPr>
              <a:t>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A1566-518C-45F5-A1AE-60A1DF9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52975"/>
            <a:ext cx="952500" cy="90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51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pPr>
            <a:r>
              <a:rPr sz="5100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rPr>
              <a:t>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21B9C-BC9C-4D1D-8DE0-4145AE76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氿を展開 / Expand 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070BD-4A33-4003-A0CB-8D3F4001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102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最初の記述にない氵も見つかる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540AB-0BBC-4A36-96E1-15EED89D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531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Find 氵 inside a component</a:t>
            </a:r>
          </a:p>
        </p:txBody>
      </p:sp>
    </p:spTree>
    <p:extLst>
      <p:ext uri="{BB962C8B-B14F-4D97-AF65-F5344CB8AC3E}">
        <p14:creationId xmlns:p14="http://schemas.microsoft.com/office/powerpoint/2010/main" val="7971508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3EA4D-BC59-4AFE-BD11-5C657649CF0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000250" y="3910965"/>
            <a:ext cx="952500" cy="48006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non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9FABA-FAD0-4742-883E-D0A6739883A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1428750" y="3910965"/>
            <a:ext cx="571500" cy="48006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non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A6AA0-F671-4FA9-90BE-BBCAB03B7AB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429000" y="2663190"/>
            <a:ext cx="1571625" cy="39433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non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73F8D-05D0-46AF-A2BA-6D27F5BCF29E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000250" y="2663190"/>
            <a:ext cx="1428750" cy="39433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non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9C852-A4B9-4E1D-B2AB-EDDEF5FE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木構造を文字列にする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C0F0D-637C-4583-88D7-3BEBC114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Serializing trees in prefix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5E463-146E-4B16-B84B-6B02D9DD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DAFCF-AA10-4CEC-9DF4-EB6E2FDA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95250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29F87-38B8-46BD-8B92-06BC1D76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57525"/>
            <a:ext cx="95250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0">
                <a:solidFill>
                  <a:srgbClr val="2964A0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4800" b="0">
                <a:solidFill>
                  <a:srgbClr val="2964A0"/>
                </a:solidFill>
                <a:latin typeface="BabelStone Han"/>
                <a:ea typeface="BabelStone Han"/>
                <a:cs typeface="BabelStone Han"/>
              </a:defRPr>
            </a:pPr>
            <a:r>
              <a:rPr sz="4800" b="0">
                <a:solidFill>
                  <a:srgbClr val="2964A0"/>
                </a:solidFill>
                <a:latin typeface="BabelStone Han"/>
                <a:ea typeface="BabelStone Han"/>
                <a:cs typeface="BabelStone Han"/>
              </a:rPr>
              <a:t>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C73AB-2880-4892-AD3A-D1DCB642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57525"/>
            <a:ext cx="95250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4800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7005E-924B-4424-960B-5278D47C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91025"/>
            <a:ext cx="857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0">
                <a:solidFill>
                  <a:srgbClr val="2964A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5100" b="0">
                <a:solidFill>
                  <a:srgbClr val="2964A0"/>
                </a:solidFill>
                <a:latin typeface="Noto Sans JP"/>
                <a:ea typeface="Noto Sans JP"/>
                <a:cs typeface="Noto Sans JP"/>
              </a:defRPr>
            </a:pPr>
            <a:r>
              <a:rPr sz="5100" b="0">
                <a:solidFill>
                  <a:srgbClr val="2964A0"/>
                </a:solidFill>
                <a:latin typeface="Noto Sans JP"/>
                <a:ea typeface="Noto Sans JP"/>
                <a:cs typeface="Noto Sans JP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71C04-F588-45A5-B4BC-B6307E60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91025"/>
            <a:ext cx="857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0">
                <a:solidFill>
                  <a:srgbClr val="2964A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5100" b="0">
                <a:solidFill>
                  <a:srgbClr val="2964A0"/>
                </a:solidFill>
                <a:latin typeface="Noto Sans JP"/>
                <a:ea typeface="Noto Sans JP"/>
                <a:cs typeface="Noto Sans JP"/>
              </a:defRPr>
            </a:pPr>
            <a:r>
              <a:rPr sz="5100" b="0">
                <a:solidFill>
                  <a:srgbClr val="2964A0"/>
                </a:solidFill>
                <a:latin typeface="Noto Sans JP"/>
                <a:ea typeface="Noto Sans JP"/>
                <a:cs typeface="Noto Sans JP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71084-096D-488C-A680-A742DFF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1000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51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51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6D916-469B-4799-B497-5D1178C2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33725"/>
            <a:ext cx="1000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75" b="0">
                <a:solidFill>
                  <a:srgbClr val="2964A0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5175" b="0">
                <a:solidFill>
                  <a:srgbClr val="2964A0"/>
                </a:solidFill>
                <a:latin typeface="BabelStone Han"/>
                <a:ea typeface="BabelStone Han"/>
                <a:cs typeface="BabelStone Han"/>
              </a:defRPr>
            </a:pPr>
            <a:r>
              <a:rPr sz="5175" b="0">
                <a:solidFill>
                  <a:srgbClr val="2964A0"/>
                </a:solidFill>
                <a:latin typeface="BabelStone Han"/>
                <a:ea typeface="BabelStone Han"/>
                <a:cs typeface="BabelStone Han"/>
              </a:rPr>
              <a:t>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AADDA-E2FF-44CD-AD7C-B7EFDAD3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33725"/>
            <a:ext cx="1000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75" b="0">
                <a:solidFill>
                  <a:srgbClr val="2964A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5175" b="0">
                <a:solidFill>
                  <a:srgbClr val="2964A0"/>
                </a:solidFill>
                <a:latin typeface="Noto Sans JP"/>
                <a:ea typeface="Noto Sans JP"/>
                <a:cs typeface="Noto Sans JP"/>
              </a:defRPr>
            </a:pPr>
            <a:r>
              <a:rPr sz="5175" b="0">
                <a:solidFill>
                  <a:srgbClr val="2964A0"/>
                </a:solidFill>
                <a:latin typeface="Noto Sans JP"/>
                <a:ea typeface="Noto Sans JP"/>
                <a:cs typeface="Noto Sans JP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8880F-4BA5-4126-9138-A5ADF606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33725"/>
            <a:ext cx="1000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75" b="0">
                <a:solidFill>
                  <a:srgbClr val="2964A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5175" b="0">
                <a:solidFill>
                  <a:srgbClr val="2964A0"/>
                </a:solidFill>
                <a:latin typeface="Noto Sans JP"/>
                <a:ea typeface="Noto Sans JP"/>
                <a:cs typeface="Noto Sans JP"/>
              </a:defRPr>
            </a:pPr>
            <a:r>
              <a:rPr sz="5175" b="0">
                <a:solidFill>
                  <a:srgbClr val="2964A0"/>
                </a:solidFill>
                <a:latin typeface="Noto Sans JP"/>
                <a:ea typeface="Noto Sans JP"/>
                <a:cs typeface="Noto Sans JP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FB0E7-5E63-406E-B1C6-D8CC8D1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33725"/>
            <a:ext cx="1000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51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51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AD59F-C302-435D-B2BB-4CB6F2D2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05300"/>
            <a:ext cx="493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親を先に書く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97C84-498A-40DC-8396-55240F3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48225"/>
            <a:ext cx="4933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Write the parent 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A7AD3-F0A2-490C-9ACE-B3D45309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57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964A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964A0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2964A0"/>
                </a:solidFill>
                <a:latin typeface="Noto Sans JP"/>
                <a:ea typeface="Noto Sans JP"/>
                <a:cs typeface="Noto Sans JP"/>
              </a:rPr>
              <a:t>部分木は、連続した列になる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07FC0-0DBB-445B-AEAA-8F67F652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200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 subtree becomes a contiguous sequence</a:t>
            </a:r>
          </a:p>
        </p:txBody>
      </p:sp>
    </p:spTree>
    <p:extLst>
      <p:ext uri="{BB962C8B-B14F-4D97-AF65-F5344CB8AC3E}">
        <p14:creationId xmlns:p14="http://schemas.microsoft.com/office/powerpoint/2010/main" val="6994000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01F4D-63B6-4C09-B742-FCBC32AF1C8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20000" y="3190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9477C-377B-494F-BA7B-F2DAA669411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14750" y="3190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4B2B9-DC2A-443E-8598-0D8E956C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全文検索の技術を応用する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57CAF-9255-4D7B-821B-439AA03D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Repurposing full-text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86EAB-B870-4AE3-BF2D-36C5E7A5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A8255-7C7A-4277-B0D8-113F514F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分解したIDSの列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4BFDB-D704-4AF6-B039-4215D8A9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Serialized decompositions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8392C-2A79-4229-8032-4FE23844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FTSで候補を絞る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C439F-859E-4837-956F-0131BF81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992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Filter with full-text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C7F3A-A711-4DB2-A86B-C1DBD41E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構造の条件を検査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2432D-C290-4F8A-9FEE-11457B0E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992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Verify the structural 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409A3-C21E-41AC-BC32-AB30B8BE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木構造の知識を、汎用の検索技術につなぐ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6C660-AB16-4999-B858-97E20E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Bridge character structures and a general-purpose search engine</a:t>
            </a:r>
          </a:p>
        </p:txBody>
      </p:sp>
    </p:spTree>
    <p:extLst>
      <p:ext uri="{BB962C8B-B14F-4D97-AF65-F5344CB8AC3E}">
        <p14:creationId xmlns:p14="http://schemas.microsoft.com/office/powerpoint/2010/main" val="2175588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31594-F1CB-4F96-BC30-E5E85BCCB7D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43925" y="25431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23AE9-7F73-4415-BD28-D82BDF625E0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34050" y="25431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0B819-FAE6-4182-B03D-7D446AB89B4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24175" y="25431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7B058-8467-4785-B8E2-331B55CF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検索基盤でデータを検査する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4FE22-2C85-40C5-B821-0CCD50A2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Using the search infrastructure to check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C0A6C-6B27-462F-B0A3-DFCF17BC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334B8-287B-48AB-9715-68357560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143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仮説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0A6E1-0E24-4AF5-B8BE-911E174F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Hypothesis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E00FA-0D3E-498C-B609-460BA982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24050"/>
            <a:ext cx="2143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制約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226A6-4DBF-4D82-9403-AEC8639C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622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Query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AC27B-3FF5-4ECB-9BEC-A3E7A6DD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143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候補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07624-F888-47DA-9E1B-CA83BD47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622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Candidates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7360B-0D8E-4033-9CC0-D7F6CBF6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924050"/>
            <a:ext cx="2143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出典確認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D39EF-FEBD-4B40-A0F4-4805CCB1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622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Source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A4493-54B2-40E6-A753-7FA01E37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81375"/>
            <a:ext cx="1714500" cy="1693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52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952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952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320B3-3794-491C-84A9-66DD5C2C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29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水部・内画数14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33EC9-4C62-4181-B13F-F16E3A93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719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Water radical, 14 residual strokes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3B0EB-CDA2-4A52-867C-1C5200C7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81375"/>
            <a:ext cx="1809750" cy="1693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52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952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952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A1832-A270-453E-A199-B949617C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290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総画数 3 →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BE7D1-AD71-45A7-8030-CE27B5C2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719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Total strokes: 3 to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02B59-6DFD-44E4-A48D-104F5407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38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外れる記録は、調べるべき候補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56005-EFDD-4FB5-AE93-E0D9A5EE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817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An inconsistency is a candidate for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3537104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45DA7-7AC4-44F9-8F28-CD0344BB19E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543800" y="5029200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CD383-605D-4171-9C9F-89294A5E4B1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57600" y="502920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121C2-BD73-48D1-8A26-52630023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似た字の発見とUnihanへの提案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951FB-0F5F-4FCD-AC7C-B18D6D8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Finding lookalikes and proposing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BF3F5-D5C9-47BB-A76A-E5A02F19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34339-7691-4159-9D22-9690511B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190750" cy="2093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7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117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117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EB9F5-B577-46D2-AB7A-99AAC33E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2381250" cy="2093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775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11775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pPr>
            <a:r>
              <a:rPr sz="11775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rPr>
              <a:t>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DB6F2-2FBF-4654-B6AB-A9FAA279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2190750" cy="2093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7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117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defRPr>
            </a:pPr>
            <a:r>
              <a:rPr sz="11775" b="0">
                <a:solidFill>
                  <a:srgbClr val="20363B"/>
                </a:solidFill>
                <a:latin typeface="BabelStone Han"/>
                <a:ea typeface="BabelStone Han"/>
                <a:cs typeface="BabelStone Han"/>
              </a:rPr>
              <a:t>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2A150-C022-4C3D-9238-DFE9EBE7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2190750" cy="2093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775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defPPr>
          </a:lstStyle>
          <a:p xmlns:a="http://schemas.openxmlformats.org/drawingml/2006/main">
            <a:pPr>
              <a:defRPr sz="11775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defRPr>
            </a:pPr>
            <a:r>
              <a:rPr sz="11775" b="0">
                <a:solidFill>
                  <a:srgbClr val="007D81"/>
                </a:solidFill>
                <a:latin typeface="BabelStone Han"/>
                <a:ea typeface="BabelStone Han"/>
                <a:cs typeface="BabelStone Han"/>
              </a:rPr>
              <a:t>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9C105-924C-4452-8CB1-07BAF4FA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候補を提案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020DD-4492-4B56-901F-83CFCFFA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Propose candidates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5CAFD-155B-4461-99DF-061E5C64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100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分類を検討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10182-DCD0-4017-8622-F396DC5B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48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Review 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414AD-8CD0-4726-8FD8-74B2B041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00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更新を勧告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42071-847C-4BE3-9692-07070C1F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48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Recommend updates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FC26A-5A52-4D67-8722-5016BE02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00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U+5341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D190D-2258-4A58-AF0A-AFDEC2AA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0100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U+2C09B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82F68-238F-4097-9555-8347E4C8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00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U+5175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EDF5A-1C1E-40DB-8056-5B287744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100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U+2050A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FDAF1-936C-4046-878B-E23C3F6B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57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2022  L2/22-133</a:t>
            </a:r>
          </a:p>
        </p:txBody>
      </p:sp>
    </p:spTree>
    <p:extLst>
      <p:ext uri="{BB962C8B-B14F-4D97-AF65-F5344CB8AC3E}">
        <p14:creationId xmlns:p14="http://schemas.microsoft.com/office/powerpoint/2010/main" val="12794989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B9B12-030B-4AE8-8472-99B1BE5A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記憶の知識と、外部化した知識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11313-27B3-4D55-B403-DE2FB53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Knowledge in memory and in shared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300A5-B084-4911-B601-1067C07E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3DACA-8A89-4968-8FC0-878A880F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431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脳の索引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2283A-5334-45AE-9648-2C390220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860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An index in our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4DA57-9A33-4A7B-A54A-7FE5D25B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4312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外部化した知識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11351-BB94-43DE-8C0E-DB2F3880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471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Externalized knowledge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553B6-F689-4827-9883-5855EFB7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57600"/>
            <a:ext cx="4905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字の来歴や文脈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DCF13-7599-4CDE-A8F4-D1F66B93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00525"/>
            <a:ext cx="490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History and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ED682-82AE-4A87-99B8-F468AD4F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57600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大量の記録を比較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00FCB-2C74-4DD6-AEF2-4E317D51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00525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Compare many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E41D4-A190-43AD-89C9-6900E83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14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文字の原理への洞察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06FB7-69B0-466E-ABE2-C02D90A7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5782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Insight into character principles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50EC2-DD1E-4F75-B82B-FBF0594F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14900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他の人が検証・再利用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1AC13-2ECF-4349-8DE7-ECF03DC0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57825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Others can check and reuse it</a:t>
            </a:r>
          </a:p>
        </p:txBody>
      </p:sp>
    </p:spTree>
    <p:extLst>
      <p:ext uri="{BB962C8B-B14F-4D97-AF65-F5344CB8AC3E}">
        <p14:creationId xmlns:p14="http://schemas.microsoft.com/office/powerpoint/2010/main" val="16299917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C7C50-D89C-4C7B-8314-A00B8B23024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496050" y="3419475"/>
            <a:ext cx="264795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CFE08-640B-4444-B34C-901A3CCC147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429000" y="3419475"/>
            <a:ext cx="306705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75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50263-0A74-43DA-B85D-0CC0D86A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符号化済みかを調べる知識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CB882-D533-4ADD-B569-69334085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Knowledge for checking whether a character is encoded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9E4CC-05A2-4A89-90FA-E50694F2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01BE1-0F86-4781-AD4B-C74ABFF1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字形・構造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D545C-BD3F-4DCD-BA63-AFCB2630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Glyphs and 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E3F89-8224-491D-BF2D-00D8B272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81225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統合基準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80F28-0E2E-4640-B86B-5548A6A1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194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Unification criteria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AAC91-475D-4D6A-AA89-84823868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195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UCSの抽象文字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13E28-4F4E-40E8-8993-430BC8EE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5772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Abstract characters in the UCS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C28A5-E10F-4624-82D4-1DBB0083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483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UCVなども、再利用できるオープンデータに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EEA72-B7C6-4EE6-B3F8-FCFD8E06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91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Reusable open data for unification criteria such as UCV</a:t>
            </a:r>
          </a:p>
        </p:txBody>
      </p:sp>
    </p:spTree>
    <p:extLst>
      <p:ext uri="{BB962C8B-B14F-4D97-AF65-F5344CB8AC3E}">
        <p14:creationId xmlns:p14="http://schemas.microsoft.com/office/powerpoint/2010/main" val="5613069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F60E7-D0D2-4AE2-8F8D-2DA4CEC4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使える技能も借りる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E4002-7C6B-4614-9927-22375B1D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Drawing on available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BCA09-28F8-40AB-840C-2E30787B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97BDB-FE83-414B-9701-D2D6EA1C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43125"/>
            <a:ext cx="104298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40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最近のMojidata更新は</a:t>
            </a:r>
          </a:p>
          <a:p xmlns:a="http://schemas.openxmlformats.org/drawingml/2006/main">
            <a:pPr>
              <a:defRPr sz="40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40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AIにかなり頼っている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0AEB9-0CD1-4835-A945-E77758F5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8145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I rely heavily on AI for recent Mojidata updates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959F0-9B08-449B-B237-5A1ABE0B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技能を活用して取り組み、必要なら一緒に学ぶ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21B16-7406-415E-BB7F-95E5E04E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864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Use available skills and learn together when needed</a:t>
            </a:r>
          </a:p>
        </p:txBody>
      </p:sp>
    </p:spTree>
    <p:extLst>
      <p:ext uri="{BB962C8B-B14F-4D97-AF65-F5344CB8AC3E}">
        <p14:creationId xmlns:p14="http://schemas.microsoft.com/office/powerpoint/2010/main" val="3746892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A48B8-CC1F-4D12-A456-BFE99E90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自分で分析し、小さな成果も公開する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FAA39-F936-4297-A271-EBF7B072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Analyze data and share small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4BEDD-453F-4058-8794-A2A0E3E0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96FC5-303D-4241-834A-F243FDC1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33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気になる問いを試す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3F43A-128B-44EB-A9F0-B8651F8E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765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Investigate a question you care about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139D1-37E2-4EC1-B85F-26C30547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480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対応表 / Character mappings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A656C-94F6-48DE-97F2-3F6A5A38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719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誤り候補 / Potential errors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7F841-2DDD-40BA-A1F9-8721149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分析クエリ / Analysis queries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84D40-3679-4878-82F6-305BABCC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648075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オープンサイエンス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2EF48-C89D-42F3-9082-C33E4259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910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Open science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7660E-69C6-4C1C-93C0-078D47F5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72025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知識の検証・改善に参加する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CCD3A-4F90-40F2-B75D-3160E0FB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05450"/>
            <a:ext cx="352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Join the review and improvement of knowledge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E5275-8968-48CC-A2AC-29A452A5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出典・利用条件・検証状況を添える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CA653-0ADA-4B45-BBE2-BC9AD969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48400"/>
            <a:ext cx="1019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Include sources, reuse terms and verification status</a:t>
            </a:r>
          </a:p>
        </p:txBody>
      </p:sp>
    </p:spTree>
    <p:extLst>
      <p:ext uri="{BB962C8B-B14F-4D97-AF65-F5344CB8AC3E}">
        <p14:creationId xmlns:p14="http://schemas.microsoft.com/office/powerpoint/2010/main" val="6487728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6EFA8-5B85-4EE6-B65E-17E81077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補足  自由文の区切り文字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68219-5920-434A-92FA-5D0AF990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Appendix: delimiters in prose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8A13E-443E-4E35-86D4-870FC45E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695A6-FE54-412D-A62B-17BEAD4D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9775"/>
            <a:ext cx="2238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6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6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12600" b="0">
                <a:solidFill>
                  <a:srgbClr val="007D81"/>
                </a:solidFill>
                <a:latin typeface="Noto Sans JP"/>
                <a:ea typeface="Noto Sans JP"/>
                <a:cs typeface="Noto Sans JP"/>
              </a:rPr>
              <a:t>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39104-C395-4D50-9674-F0C4A241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2412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値の境界？  文章中の記号？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2B6FF-1113-4EC3-9F86-AFC3BC60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670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 value boundary or punctuation in prose?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A6633-2E9E-4290-995F-9239974F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kDefinitionの仕様を、実際の文章と照合する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A535F-CF37-4B05-890B-11719177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673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Check the specification against the actual definitions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10451-2AAC-4DF4-AEEC-54855700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245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2024年2月の報告 / Reported in February 2024</a:t>
            </a:r>
          </a:p>
        </p:txBody>
      </p:sp>
    </p:spTree>
    <p:extLst>
      <p:ext uri="{BB962C8B-B14F-4D97-AF65-F5344CB8AC3E}">
        <p14:creationId xmlns:p14="http://schemas.microsoft.com/office/powerpoint/2010/main" val="321155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AD7E5-E260-4E97-BC8F-17E88E11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補足  最近の更新作業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B0D57-7B27-45C1-971F-EB6ADD98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Appendix: recent maintenance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39792-BC66-4534-BA87-2099AFF4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A5D72-F5DA-4D57-9F36-8CD75A3AE623}"/>
              </a:ext>
            </a:extLst>
          </p:cNvPr>
          <p:cNvGraphicFramePr/>
          <p:nvPr/>
        </p:nvGraphicFramePr>
        <p:xfrm>
          <a:off xmlns:a="http://schemas.openxmlformats.org/drawingml/2006/main" x="790575" y="2076450"/>
          <a:ext xmlns:a="http://schemas.openxmlformats.org/drawingml/2006/main" cx="105918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00550"/>
                <a:gridCol w="3905250"/>
              </a:tblGrid>
              <a:tr h="9120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日付 / Date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作業 / Work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 / Check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</a:tr>
              <a:tr h="912019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2026-09-22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プロパティの差分</a:t>
                      </a:r>
                    </a:p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Property diffs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定義と実データ</a:t>
                      </a:r>
                    </a:p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Spec and data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  <a:tr h="912019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2026-09-22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日本の新旧字体</a:t>
                      </a:r>
                    </a:p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Japanese variants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複数値・検索対象</a:t>
                      </a:r>
                    </a:p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Values and search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  <a:tr h="912019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2026-10-10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IVD・文字マップ</a:t>
                      </a:r>
                    </a:p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IVD and cmap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登録差分・既存値</a:t>
                      </a:r>
                    </a:p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New and existing data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CF1C4-5595-49BA-915C-2781F5BF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293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履歴 / Commits: db872f60, 91b03714, 167f36bc</a:t>
            </a:r>
          </a:p>
        </p:txBody>
      </p:sp>
    </p:spTree>
    <p:extLst>
      <p:ext uri="{BB962C8B-B14F-4D97-AF65-F5344CB8AC3E}">
        <p14:creationId xmlns:p14="http://schemas.microsoft.com/office/powerpoint/2010/main" val="10021870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8F540-E86F-4E28-9C3A-B764EED3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補足  最小画数は条件で変わる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C3364-0D4B-4F59-B932-078E28BD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Appendix: the minimum depends on the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1B9C2-4921-46E8-8271-6B8B6083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4FC92-CD31-4636-B169-BEB3D3A34F52}"/>
              </a:ext>
            </a:extLst>
          </p:cNvPr>
          <p:cNvGraphicFramePr/>
          <p:nvPr/>
        </p:nvGraphicFramePr>
        <p:xfrm>
          <a:off xmlns:a="http://schemas.openxmlformats.org/drawingml/2006/main" x="790575" y="2019300"/>
          <a:ext xmlns:a="http://schemas.openxmlformats.org/drawingml/2006/main" cx="10572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2095500"/>
                <a:gridCol w="3190875"/>
                <a:gridCol w="2095500"/>
              </a:tblGrid>
              <a:tr h="476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対応元 / Source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画数 / Strokes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対応先 / Target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7D8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画数 / Strokes</a:t>
                      </a:r>
                    </a:p>
                  </a:txBody>
                  <a:tcPr marL="133350" marR="114300" marT="76200" marB="66675" anchor="ctr">
                    <a:solidFill>
                      <a:srgbClr val="EAF3F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匃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丐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匄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丐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宁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㝉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宂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冗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戹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厄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疋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匹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363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133350" marR="114300" marT="76200" marB="66675" anchor="ctr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FD725-D764-4F5A-A47B-F2274B29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388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日本の新字体だけなら、收6画と収4画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D5A24-BAC6-4556-A9C7-3D53999A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81725"/>
            <a:ext cx="1057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Japanese shinjitai only: 收 with 6 strokes and 収 with 4</a:t>
            </a:r>
          </a:p>
        </p:txBody>
      </p:sp>
    </p:spTree>
    <p:extLst>
      <p:ext uri="{BB962C8B-B14F-4D97-AF65-F5344CB8AC3E}">
        <p14:creationId xmlns:p14="http://schemas.microsoft.com/office/powerpoint/2010/main" val="15118527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0B2BF-D216-4EB8-83BE-25284F06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参照文献と入口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20AD1-3255-4E98-BB4E-769966BF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References and places to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0FFD6-9481-4742-AE5A-A660E021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E7075"/>
                </a:solidFill>
                <a:latin typeface="Noto Sans JP"/>
                <a:ea typeface="Noto Sans JP"/>
                <a:cs typeface="Noto Sans JP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F0AF2-288A-4B9F-8060-DA9038C2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ESR  How To Become A Hacker（日本語訳）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DE9F5-70B9-4260-AFFD-7F6114C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a45b9d4cb9424213"/>
              </a:rPr>
              <a:t>cruel.org/freeware/hacker.html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F66C7-463A-4538-A5EA-E73F8549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Ryusei  ハックとデジタル社会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D6B4F-75D5-4330-8484-3A0F4CAC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c27b8247a0394b55"/>
              </a:rPr>
              <a:t>mandel59.hateblo.jp/entry/2023/11/19/212703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9357A-4257-4574-91C7-B86C3C6E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MJ文字情報一覧 部首・内画数の誤り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85276-E072-46E1-A15F-08F02E8E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3452b347757c4bd3"/>
              </a:rPr>
              <a:t>mandel59.hateblo.jp/entry/2024/02/09/005117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3E58A-0765-4B3A-83AC-F040F9CD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Unihanへの類似字提案 / Lookalike proposal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2B829-4ADA-4633-B78B-71AC0700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40abad278f7a4286"/>
              </a:rPr>
              <a:t>unicode.org/L2/L2022/22133-kspoofing-kzvariant-cand.pdf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95787-C0F4-48DD-886B-49BCEE1E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UNESCO  Open science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A70BF-6298-490C-886E-5EA73525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3dfdbf4f248145ac"/>
              </a:rPr>
              <a:t>unesco.org/en/open-science/about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F966E-AD5D-4A07-87B0-8321B497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0363B"/>
                </a:solidFill>
                <a:latin typeface="Noto Sans JP"/>
                <a:ea typeface="Noto Sans JP"/>
                <a:cs typeface="Noto Sans JP"/>
              </a:rPr>
              <a:t>Mojidata  公開検索 /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C5A1A-46DD-4385-990E-5E163D8A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245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007D81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a60befb14c8142ff"/>
              </a:rPr>
              <a:t>mojidata.ryusei.dev</a:t>
            </a:r>
          </a:p>
        </p:txBody>
      </p:sp>
    </p:spTree>
    <p:extLst>
      <p:ext uri="{BB962C8B-B14F-4D97-AF65-F5344CB8AC3E}">
        <p14:creationId xmlns:p14="http://schemas.microsoft.com/office/powerpoint/2010/main" val="218178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2026-10-10T15:50:15.0670000Z</dcterms:created>
  <dcterms:modified xsi:type="dcterms:W3CDTF">2026-10-10T15:50:15.0670000Z</dcterms:modified>
</coreProperties>
</file>